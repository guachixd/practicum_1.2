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  <p:embeddedFont>
      <p:font typeface="Arial Bold" charset="1" panose="020B0704020202020204"/>
      <p:regular r:id="rId22"/>
    </p:embeddedFont>
    <p:embeddedFont>
      <p:font typeface="Calibri (MS)" charset="1" panose="020F0502020204030204"/>
      <p:regular r:id="rId24"/>
    </p:embeddedFont>
    <p:embeddedFont>
      <p:font typeface="Courier New" charset="1" panose="020703090202050204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-3017520"/>
            <a:ext cx="8229600" cy="8229600"/>
            <a:chOff x="0" y="0"/>
            <a:chExt cx="10972800" cy="1097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1A214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99080" y="-822960"/>
            <a:ext cx="4114800" cy="4114800"/>
            <a:chOff x="0" y="0"/>
            <a:chExt cx="5486400" cy="548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2743200"/>
                  </a:moveTo>
                  <a:cubicBezTo>
                    <a:pt x="0" y="1228217"/>
                    <a:pt x="1228217" y="0"/>
                    <a:pt x="2743200" y="0"/>
                  </a:cubicBezTo>
                  <a:cubicBezTo>
                    <a:pt x="4258183" y="0"/>
                    <a:pt x="5486400" y="1228217"/>
                    <a:pt x="5486400" y="2743200"/>
                  </a:cubicBezTo>
                  <a:cubicBezTo>
                    <a:pt x="5486400" y="4258183"/>
                    <a:pt x="4258183" y="5486400"/>
                    <a:pt x="2743200" y="5486400"/>
                  </a:cubicBezTo>
                  <a:cubicBezTo>
                    <a:pt x="1228217" y="5486400"/>
                    <a:pt x="0" y="4258183"/>
                    <a:pt x="0" y="2743200"/>
                  </a:cubicBezTo>
                  <a:close/>
                </a:path>
              </a:pathLst>
            </a:custGeom>
            <a:solidFill>
              <a:srgbClr val="16204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2880360"/>
            <a:ext cx="12344400" cy="548640"/>
            <a:chOff x="0" y="0"/>
            <a:chExt cx="164592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459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00D9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PRACTICUM INTERNO · LÍNEA DE AGENTES DE IA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7280" y="3497580"/>
            <a:ext cx="13030200" cy="2606040"/>
            <a:chOff x="0" y="0"/>
            <a:chExt cx="17373600" cy="3474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7360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7373600" cy="353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38"/>
                </a:lnSpc>
              </a:pPr>
              <a:r>
                <a:rPr lang="en-US" sz="63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Generador de Recursos</a:t>
              </a:r>
            </a:p>
            <a:p>
              <a:pPr algn="l">
                <a:lnSpc>
                  <a:spcPts val="7938"/>
                </a:lnSpc>
              </a:pPr>
              <a:r>
                <a:rPr lang="en-US" sz="63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Didácticos con IA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78230" y="7319010"/>
            <a:ext cx="3329940" cy="38100"/>
            <a:chOff x="0" y="0"/>
            <a:chExt cx="4439920" cy="50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20" cy="50800"/>
            </a:xfrm>
            <a:custGeom>
              <a:avLst/>
              <a:gdLst/>
              <a:ahLst/>
              <a:cxnLst/>
              <a:rect r="r" b="b" t="t" l="l"/>
              <a:pathLst>
                <a:path h="50800" w="4439920">
                  <a:moveTo>
                    <a:pt x="0" y="0"/>
                  </a:moveTo>
                  <a:lnTo>
                    <a:pt x="443992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1652992" r="0" b="-1652992"/>
              </a:stretch>
            </a:blipFill>
            <a:ln w="38100" cap="sq">
              <a:solidFill>
                <a:srgbClr val="00D9A5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7612380"/>
            <a:ext cx="10972800" cy="1097280"/>
            <a:chOff x="0" y="0"/>
            <a:chExt cx="14630400" cy="1463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46304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5F7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Danny Guachisaca </a:t>
              </a:r>
            </a:p>
            <a:p>
              <a:pPr algn="l">
                <a:lnSpc>
                  <a:spcPts val="2340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28325" y="1101267"/>
            <a:ext cx="5315637" cy="7404623"/>
          </a:xfrm>
          <a:custGeom>
            <a:avLst/>
            <a:gdLst/>
            <a:ahLst/>
            <a:cxnLst/>
            <a:rect r="r" b="b" t="t" l="l"/>
            <a:pathLst>
              <a:path h="7404623" w="5315637">
                <a:moveTo>
                  <a:pt x="0" y="0"/>
                </a:moveTo>
                <a:lnTo>
                  <a:pt x="5315637" y="0"/>
                </a:lnTo>
                <a:lnTo>
                  <a:pt x="5315637" y="7404622"/>
                </a:lnTo>
                <a:lnTo>
                  <a:pt x="0" y="74046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3428" y="402289"/>
            <a:ext cx="7478284" cy="76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0"/>
              </a:lnSpc>
              <a:spcBef>
                <a:spcPct val="0"/>
              </a:spcBef>
            </a:pPr>
            <a:r>
              <a:rPr lang="en-US" b="true" sz="4467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Estructura general del proyecto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6641623" cy="1234440"/>
            <a:chOff x="0" y="0"/>
            <a:chExt cx="2218883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8883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679" r="0" b="-21267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18883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Extractor de texto: PDF, Word y PowerPoint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669780"/>
            <a:ext cx="10972800" cy="411480"/>
            <a:chOff x="0" y="0"/>
            <a:chExt cx="14630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Generador de Recursos Didácticos · COMP_2010 · UTPL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55274" y="2955233"/>
            <a:ext cx="7861721" cy="6014464"/>
          </a:xfrm>
          <a:custGeom>
            <a:avLst/>
            <a:gdLst/>
            <a:ahLst/>
            <a:cxnLst/>
            <a:rect r="r" b="b" t="t" l="l"/>
            <a:pathLst>
              <a:path h="6014464" w="7861721">
                <a:moveTo>
                  <a:pt x="0" y="0"/>
                </a:moveTo>
                <a:lnTo>
                  <a:pt x="7861721" y="0"/>
                </a:lnTo>
                <a:lnTo>
                  <a:pt x="7861721" y="6014465"/>
                </a:lnTo>
                <a:lnTo>
                  <a:pt x="0" y="6014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4323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1749020"/>
            <a:ext cx="8474884" cy="4213445"/>
          </a:xfrm>
          <a:custGeom>
            <a:avLst/>
            <a:gdLst/>
            <a:ahLst/>
            <a:cxnLst/>
            <a:rect r="r" b="b" t="t" l="l"/>
            <a:pathLst>
              <a:path h="4213445" w="8474884">
                <a:moveTo>
                  <a:pt x="0" y="0"/>
                </a:moveTo>
                <a:lnTo>
                  <a:pt x="8474884" y="0"/>
                </a:lnTo>
                <a:lnTo>
                  <a:pt x="8474884" y="4213445"/>
                </a:lnTo>
                <a:lnTo>
                  <a:pt x="0" y="42134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1014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144000" y="6508178"/>
            <a:ext cx="8649678" cy="7500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7188" indent="-228594" lvl="1">
              <a:lnSpc>
                <a:spcPts val="3031"/>
              </a:lnSpc>
              <a:buFont typeface="Arial"/>
              <a:buChar char="•"/>
            </a:pPr>
            <a:r>
              <a:rPr lang="en-US" sz="2526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Soporta tres formatos: PDF (PyMuPDF), Word (python-docx, incluye tablas) y PowerPoint (python-pptx).</a:t>
            </a:r>
          </a:p>
          <a:p>
            <a:pPr algn="l" marL="457188" indent="-228594" lvl="1">
              <a:lnSpc>
                <a:spcPts val="3031"/>
              </a:lnSpc>
              <a:buFont typeface="Arial"/>
              <a:buChar char="•"/>
            </a:pPr>
            <a:r>
              <a:rPr lang="en-US" sz="2526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Detecta PDFs escaneados: si el promedio de caracteres por página es menor a 30, asume que no hay capa de texto y lo omite con una advertencia en vez de fallar.</a:t>
            </a:r>
          </a:p>
          <a:p>
            <a:pPr algn="l" marL="457188" indent="-228594" lvl="1">
              <a:lnSpc>
                <a:spcPts val="3031"/>
              </a:lnSpc>
              <a:buFont typeface="Arial"/>
              <a:buChar char="•"/>
            </a:pPr>
            <a:r>
              <a:rPr lang="en-US" sz="2526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Lee cualquier archivo en la raíz de data/material/ como “material general” sin depender de una convención de nombres, y procesa por separado las carpetas unidad_01 … unidad_08.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164592"/>
            <a:ext cx="16641623" cy="438912"/>
            <a:chOff x="0" y="0"/>
            <a:chExt cx="2218883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88830" cy="585216"/>
            </a:xfrm>
            <a:custGeom>
              <a:avLst/>
              <a:gdLst/>
              <a:ahLst/>
              <a:cxnLst/>
              <a:rect r="r" b="b" t="t" l="l"/>
              <a:pathLst>
                <a:path h="58521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8787" r="0" b="-68878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18883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00D9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PASO 2 · BASE_CONOCIMIENTO.PY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548640"/>
            <a:ext cx="16641623" cy="1234440"/>
            <a:chOff x="0" y="0"/>
            <a:chExt cx="2218883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883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679" r="0" b="-21267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218883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Base de conocimiento: 8 unidades con cobertura real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9669780"/>
            <a:ext cx="10972800" cy="411480"/>
            <a:chOff x="0" y="0"/>
            <a:chExt cx="14630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Generador de Recursos Didácticos · COMP_2010 · UTPL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15943" y="9669780"/>
            <a:ext cx="685800" cy="411480"/>
            <a:chOff x="0" y="0"/>
            <a:chExt cx="914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2634638"/>
            <a:ext cx="7327620" cy="5631949"/>
          </a:xfrm>
          <a:custGeom>
            <a:avLst/>
            <a:gdLst/>
            <a:ahLst/>
            <a:cxnLst/>
            <a:rect r="r" b="b" t="t" l="l"/>
            <a:pathLst>
              <a:path h="5631949" w="7327620">
                <a:moveTo>
                  <a:pt x="0" y="0"/>
                </a:moveTo>
                <a:lnTo>
                  <a:pt x="7327620" y="0"/>
                </a:lnTo>
                <a:lnTo>
                  <a:pt x="7327620" y="5631948"/>
                </a:lnTo>
                <a:lnTo>
                  <a:pt x="0" y="56319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54485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212123" y="3714919"/>
            <a:ext cx="7703820" cy="2800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Cada unidad combina su material propio (contenido) con el contexto_curso compartido (plan docente, guía, sílabo).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El flag tiene_material evita generar recursos para unidades vacías: el pipeline las salta automáticamente en vez de alucinar contenido.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En esta corrida real, 2 de 8 carpetas de unidad tenían material — algunos PDFs de clase resultaron ser escaneados y se omitieron (ver Extractor).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48640"/>
            <a:ext cx="16641623" cy="1234440"/>
            <a:chOff x="0" y="0"/>
            <a:chExt cx="2218883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8883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679" r="0" b="-21267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18883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Ajustando los prompts contra la rúbrica de calidad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125980"/>
            <a:ext cx="8092440" cy="480060"/>
            <a:chOff x="0" y="0"/>
            <a:chExt cx="1078992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89920" cy="640080"/>
            </a:xfrm>
            <a:custGeom>
              <a:avLst/>
              <a:gdLst/>
              <a:ahLst/>
              <a:cxnLst/>
              <a:rect r="r" b="b" t="t" l="l"/>
              <a:pathLst>
                <a:path h="64008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07899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ANTES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665095"/>
            <a:ext cx="5603409" cy="6259830"/>
            <a:chOff x="0" y="0"/>
            <a:chExt cx="7471211" cy="8346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71211" cy="8346440"/>
            </a:xfrm>
            <a:custGeom>
              <a:avLst/>
              <a:gdLst/>
              <a:ahLst/>
              <a:cxnLst/>
              <a:rect r="r" b="b" t="t" l="l"/>
              <a:pathLst>
                <a:path h="8346440" w="7471211">
                  <a:moveTo>
                    <a:pt x="0" y="146685"/>
                  </a:moveTo>
                  <a:cubicBezTo>
                    <a:pt x="0" y="65659"/>
                    <a:pt x="45357" y="0"/>
                    <a:pt x="101330" y="0"/>
                  </a:cubicBezTo>
                  <a:lnTo>
                    <a:pt x="7369881" y="0"/>
                  </a:lnTo>
                  <a:cubicBezTo>
                    <a:pt x="7425854" y="0"/>
                    <a:pt x="7471211" y="65659"/>
                    <a:pt x="7471211" y="146685"/>
                  </a:cubicBezTo>
                  <a:lnTo>
                    <a:pt x="7471211" y="8199755"/>
                  </a:lnTo>
                  <a:cubicBezTo>
                    <a:pt x="7471211" y="8280781"/>
                    <a:pt x="7425854" y="8346440"/>
                    <a:pt x="7369881" y="8346440"/>
                  </a:cubicBezTo>
                  <a:lnTo>
                    <a:pt x="101330" y="8346440"/>
                  </a:lnTo>
                  <a:cubicBezTo>
                    <a:pt x="45357" y="8346440"/>
                    <a:pt x="0" y="8280781"/>
                    <a:pt x="0" y="8199755"/>
                  </a:cubicBezTo>
                  <a:close/>
                </a:path>
              </a:pathLst>
            </a:custGeom>
            <a:solidFill>
              <a:srgbClr val="070A14"/>
            </a:solidFill>
            <a:ln w="19050" cap="sq">
              <a:solidFill>
                <a:srgbClr val="2A335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395460" y="2125980"/>
            <a:ext cx="8092440" cy="480060"/>
            <a:chOff x="0" y="0"/>
            <a:chExt cx="1078992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89920" cy="640080"/>
            </a:xfrm>
            <a:custGeom>
              <a:avLst/>
              <a:gdLst/>
              <a:ahLst/>
              <a:cxnLst/>
              <a:rect r="r" b="b" t="t" l="l"/>
              <a:pathLst>
                <a:path h="64008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7899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0D9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DESPUÉS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9669780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Generador de Recursos Didácticos · COMP_2010 · UTPL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915943" y="9669780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045176" y="2948940"/>
            <a:ext cx="9213667" cy="5792399"/>
          </a:xfrm>
          <a:custGeom>
            <a:avLst/>
            <a:gdLst/>
            <a:ahLst/>
            <a:cxnLst/>
            <a:rect r="r" b="b" t="t" l="l"/>
            <a:pathLst>
              <a:path h="5792399" w="9213667">
                <a:moveTo>
                  <a:pt x="0" y="0"/>
                </a:moveTo>
                <a:lnTo>
                  <a:pt x="9213667" y="0"/>
                </a:lnTo>
                <a:lnTo>
                  <a:pt x="9213667" y="5792399"/>
                </a:lnTo>
                <a:lnTo>
                  <a:pt x="0" y="57923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785" r="-15181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94460" y="3427095"/>
            <a:ext cx="6949440" cy="509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6F86B3"/>
                </a:solidFill>
                <a:latin typeface="Courier New"/>
                <a:ea typeface="Courier New"/>
                <a:cs typeface="Courier New"/>
                <a:sym typeface="Courier New"/>
              </a:rPr>
              <a:t># resumen: lista de viñetas</a:t>
            </a:r>
          </a:p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D6E8FF"/>
                </a:solidFill>
                <a:latin typeface="Courier New"/>
                <a:ea typeface="Courier New"/>
                <a:cs typeface="Courier New"/>
                <a:sym typeface="Courier New"/>
              </a:rPr>
              <a:t>"puntos_clave": [</a:t>
            </a:r>
          </a:p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D6E8FF"/>
                </a:solidFill>
                <a:latin typeface="Courier New"/>
                <a:ea typeface="Courier New"/>
                <a:cs typeface="Courier New"/>
                <a:sym typeface="Courier New"/>
              </a:rPr>
              <a:t>  "Punto 1...",</a:t>
            </a:r>
          </a:p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D6E8FF"/>
                </a:solidFill>
                <a:latin typeface="Courier New"/>
                <a:ea typeface="Courier New"/>
                <a:cs typeface="Courier New"/>
                <a:sym typeface="Courier New"/>
              </a:rPr>
              <a:t>  "Punto 2..."</a:t>
            </a:r>
          </a:p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D6E8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algn="l">
              <a:lnSpc>
                <a:spcPts val="2548"/>
              </a:lnSpc>
            </a:pPr>
          </a:p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6F86B3"/>
                </a:solidFill>
                <a:latin typeface="Courier New"/>
                <a:ea typeface="Courier New"/>
                <a:cs typeface="Courier New"/>
                <a:sym typeface="Courier New"/>
              </a:rPr>
              <a:t># preguntas: 4, sin nivel</a:t>
            </a:r>
          </a:p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D6E8FF"/>
                </a:solidFill>
                <a:latin typeface="Courier New"/>
                <a:ea typeface="Courier New"/>
                <a:cs typeface="Courier New"/>
                <a:sym typeface="Courier New"/>
              </a:rPr>
              <a:t>"preguntas": [</a:t>
            </a:r>
          </a:p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D6E8FF"/>
                </a:solidFill>
                <a:latin typeface="Courier New"/>
                <a:ea typeface="Courier New"/>
                <a:cs typeface="Courier New"/>
                <a:sym typeface="Courier New"/>
              </a:rPr>
              <a:t>  {"pregunta": "...",</a:t>
            </a:r>
          </a:p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D6E8FF"/>
                </a:solidFill>
                <a:latin typeface="Courier New"/>
                <a:ea typeface="Courier New"/>
                <a:cs typeface="Courier New"/>
                <a:sym typeface="Courier New"/>
              </a:rPr>
              <a:t>   "respuesta_esperada": "..."}</a:t>
            </a:r>
          </a:p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D6E8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4083" y="2602249"/>
            <a:ext cx="15302278" cy="1790486"/>
          </a:xfrm>
          <a:custGeom>
            <a:avLst/>
            <a:gdLst/>
            <a:ahLst/>
            <a:cxnLst/>
            <a:rect r="r" b="b" t="t" l="l"/>
            <a:pathLst>
              <a:path h="1790486" w="15302278">
                <a:moveTo>
                  <a:pt x="0" y="0"/>
                </a:moveTo>
                <a:lnTo>
                  <a:pt x="15302278" y="0"/>
                </a:lnTo>
                <a:lnTo>
                  <a:pt x="15302278" y="1790486"/>
                </a:lnTo>
                <a:lnTo>
                  <a:pt x="0" y="17904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890" t="0" r="-706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6674" y="4861981"/>
            <a:ext cx="16294014" cy="2068877"/>
          </a:xfrm>
          <a:custGeom>
            <a:avLst/>
            <a:gdLst/>
            <a:ahLst/>
            <a:cxnLst/>
            <a:rect r="r" b="b" t="t" l="l"/>
            <a:pathLst>
              <a:path h="2068877" w="16294014">
                <a:moveTo>
                  <a:pt x="0" y="0"/>
                </a:moveTo>
                <a:lnTo>
                  <a:pt x="16294014" y="0"/>
                </a:lnTo>
                <a:lnTo>
                  <a:pt x="16294014" y="2068877"/>
                </a:lnTo>
                <a:lnTo>
                  <a:pt x="0" y="2068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6674" y="781596"/>
            <a:ext cx="568444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3"/>
              </a:lnSpc>
              <a:spcBef>
                <a:spcPct val="0"/>
              </a:spcBef>
            </a:pPr>
            <a:r>
              <a:rPr lang="en-US" b="true" sz="4377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Errores Encontrados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064171"/>
            <a:ext cx="8993595" cy="6158657"/>
          </a:xfrm>
          <a:custGeom>
            <a:avLst/>
            <a:gdLst/>
            <a:ahLst/>
            <a:cxnLst/>
            <a:rect r="r" b="b" t="t" l="l"/>
            <a:pathLst>
              <a:path h="6158657" w="8993595">
                <a:moveTo>
                  <a:pt x="0" y="0"/>
                </a:moveTo>
                <a:lnTo>
                  <a:pt x="8993595" y="0"/>
                </a:lnTo>
                <a:lnTo>
                  <a:pt x="8993595" y="6158658"/>
                </a:lnTo>
                <a:lnTo>
                  <a:pt x="0" y="6158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7623" y="676275"/>
            <a:ext cx="6148367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3"/>
              </a:lnSpc>
              <a:spcBef>
                <a:spcPct val="0"/>
              </a:spcBef>
            </a:pPr>
            <a:r>
              <a:rPr lang="en-US" b="true" sz="4377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Soluciones Generadas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00493" y="3085910"/>
            <a:ext cx="6223798" cy="352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9"/>
              </a:lnSpc>
              <a:spcBef>
                <a:spcPct val="0"/>
              </a:spcBef>
            </a:pPr>
            <a:r>
              <a:rPr lang="en-US" sz="388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"En vez de reintentar a ciegas, el módulo lee cuánto tiempo pide esperar la propia API y solo entonces reintenta — así se evita la cascada de errores 429 que vimos en el log real."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164592"/>
            <a:ext cx="16641623" cy="438912"/>
            <a:chOff x="0" y="0"/>
            <a:chExt cx="2218883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88830" cy="585216"/>
            </a:xfrm>
            <a:custGeom>
              <a:avLst/>
              <a:gdLst/>
              <a:ahLst/>
              <a:cxnLst/>
              <a:rect r="r" b="b" t="t" l="l"/>
              <a:pathLst>
                <a:path h="58521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8787" r="0" b="-68878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18883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00D9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PASO 4 · EXPORTADOR.PY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548640"/>
            <a:ext cx="16641623" cy="1234440"/>
            <a:chOff x="0" y="0"/>
            <a:chExt cx="2218883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883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679" r="0" b="-21267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218883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Salida real: documento Word generado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9669780"/>
            <a:ext cx="10972800" cy="411480"/>
            <a:chOff x="0" y="0"/>
            <a:chExt cx="14630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Generador de Recursos Didácticos · COMP_2010 · UTPL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15943" y="9669780"/>
            <a:ext cx="685800" cy="411480"/>
            <a:chOff x="0" y="0"/>
            <a:chExt cx="914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539030" y="6671218"/>
            <a:ext cx="10513460" cy="2998562"/>
          </a:xfrm>
          <a:custGeom>
            <a:avLst/>
            <a:gdLst/>
            <a:ahLst/>
            <a:cxnLst/>
            <a:rect r="r" b="b" t="t" l="l"/>
            <a:pathLst>
              <a:path h="2998562" w="10513460">
                <a:moveTo>
                  <a:pt x="0" y="0"/>
                </a:moveTo>
                <a:lnTo>
                  <a:pt x="10513460" y="0"/>
                </a:lnTo>
                <a:lnTo>
                  <a:pt x="10513460" y="2998562"/>
                </a:lnTo>
                <a:lnTo>
                  <a:pt x="0" y="299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254" r="-6368" b="-20583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32831" y="1663832"/>
            <a:ext cx="12435472" cy="4656252"/>
          </a:xfrm>
          <a:custGeom>
            <a:avLst/>
            <a:gdLst/>
            <a:ahLst/>
            <a:cxnLst/>
            <a:rect r="r" b="b" t="t" l="l"/>
            <a:pathLst>
              <a:path h="4656252" w="12435472">
                <a:moveTo>
                  <a:pt x="0" y="0"/>
                </a:moveTo>
                <a:lnTo>
                  <a:pt x="12435472" y="0"/>
                </a:lnTo>
                <a:lnTo>
                  <a:pt x="12435472" y="4656252"/>
                </a:lnTo>
                <a:lnTo>
                  <a:pt x="0" y="46562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936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164592"/>
            <a:ext cx="16641623" cy="438912"/>
            <a:chOff x="0" y="0"/>
            <a:chExt cx="2218883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88830" cy="585216"/>
            </a:xfrm>
            <a:custGeom>
              <a:avLst/>
              <a:gdLst/>
              <a:ahLst/>
              <a:cxnLst/>
              <a:rect r="r" b="b" t="t" l="l"/>
              <a:pathLst>
                <a:path h="58521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8787" r="0" b="-68878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18883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00D9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PASO 5 · EVALUADOR.PY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548640"/>
            <a:ext cx="16641623" cy="1234440"/>
            <a:chOff x="0" y="0"/>
            <a:chExt cx="2218883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883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679" r="0" b="-21267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218883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Evaluador automático (LLM-as-a-Judge)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9669780"/>
            <a:ext cx="10972800" cy="411480"/>
            <a:chOff x="0" y="0"/>
            <a:chExt cx="14630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Generador de Recursos Didácticos · COMP_2010 · UTPL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15943" y="9669780"/>
            <a:ext cx="685800" cy="411480"/>
            <a:chOff x="0" y="0"/>
            <a:chExt cx="914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22960" y="2010210"/>
            <a:ext cx="8564719" cy="6266580"/>
          </a:xfrm>
          <a:custGeom>
            <a:avLst/>
            <a:gdLst/>
            <a:ahLst/>
            <a:cxnLst/>
            <a:rect r="r" b="b" t="t" l="l"/>
            <a:pathLst>
              <a:path h="6266580" w="8564719">
                <a:moveTo>
                  <a:pt x="0" y="0"/>
                </a:moveTo>
                <a:lnTo>
                  <a:pt x="8564719" y="0"/>
                </a:lnTo>
                <a:lnTo>
                  <a:pt x="8564719" y="6266580"/>
                </a:lnTo>
                <a:lnTo>
                  <a:pt x="0" y="6266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263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760763" y="3966419"/>
            <a:ext cx="7703820" cy="668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Puntúa cada recurso de 0 a 10 comparándolo contra el material fuente: busca alucinaciones o datos inventados.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Umbral de aprobación: puntaje ≥ 7. Si un recurso no llega, main.py lo marca para reformular.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Reintenta la generación hasta 2 veces por recurso reprobado antes de dejarlo como “sin aprobar” en el reporte final.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164592"/>
            <a:ext cx="16641623" cy="438912"/>
            <a:chOff x="0" y="0"/>
            <a:chExt cx="22188830" cy="5852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88830" cy="585216"/>
            </a:xfrm>
            <a:custGeom>
              <a:avLst/>
              <a:gdLst/>
              <a:ahLst/>
              <a:cxnLst/>
              <a:rect r="r" b="b" t="t" l="l"/>
              <a:pathLst>
                <a:path h="585216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8787" r="0" b="-68878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18883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00D9A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PASO 6 · BD.PY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548640"/>
            <a:ext cx="16641623" cy="1234440"/>
            <a:chOff x="0" y="0"/>
            <a:chExt cx="2218883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883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88830">
                  <a:moveTo>
                    <a:pt x="0" y="0"/>
                  </a:moveTo>
                  <a:lnTo>
                    <a:pt x="22188830" y="0"/>
                  </a:lnTo>
                  <a:lnTo>
                    <a:pt x="2218883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679" r="0" b="-21267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218883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5F7F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Persistencia: MongoDB en vez de archivos planos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9669780"/>
            <a:ext cx="10972800" cy="411480"/>
            <a:chOff x="0" y="0"/>
            <a:chExt cx="14630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Generador de Recursos Didácticos · COMP_2010 · UTPL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915943" y="9669780"/>
            <a:ext cx="685800" cy="411480"/>
            <a:chOff x="0" y="0"/>
            <a:chExt cx="9144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5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2711495"/>
            <a:ext cx="8577298" cy="4850294"/>
          </a:xfrm>
          <a:custGeom>
            <a:avLst/>
            <a:gdLst/>
            <a:ahLst/>
            <a:cxnLst/>
            <a:rect r="r" b="b" t="t" l="l"/>
            <a:pathLst>
              <a:path h="4850294" w="8577298">
                <a:moveTo>
                  <a:pt x="0" y="0"/>
                </a:moveTo>
                <a:lnTo>
                  <a:pt x="8577298" y="0"/>
                </a:lnTo>
                <a:lnTo>
                  <a:pt x="8577298" y="4850294"/>
                </a:lnTo>
                <a:lnTo>
                  <a:pt x="0" y="48502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1176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897923" y="3188970"/>
            <a:ext cx="7703820" cy="668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Colección “unidades”: la base de conocimiento estructurada (contenido, contexto del curso, si tiene material).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Colección “recursos”: cada resumen, glosario, preguntas y actividad, indexado por unidad y tipo — la introducción general se guarda como “unidad 0”.</a:t>
            </a: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sz="2250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El Exportador lee de Mongo (no vuelve a llamar a Gemini) para ensamblar el .docx final: separa generación de composición del documento.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13556" y="2247489"/>
            <a:ext cx="12826095" cy="1713716"/>
          </a:xfrm>
          <a:custGeom>
            <a:avLst/>
            <a:gdLst/>
            <a:ahLst/>
            <a:cxnLst/>
            <a:rect r="r" b="b" t="t" l="l"/>
            <a:pathLst>
              <a:path h="1713716" w="12826095">
                <a:moveTo>
                  <a:pt x="0" y="0"/>
                </a:moveTo>
                <a:lnTo>
                  <a:pt x="12826094" y="0"/>
                </a:lnTo>
                <a:lnTo>
                  <a:pt x="12826094" y="1713717"/>
                </a:lnTo>
                <a:lnTo>
                  <a:pt x="0" y="17137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13556" y="4304106"/>
            <a:ext cx="12848459" cy="5325465"/>
          </a:xfrm>
          <a:custGeom>
            <a:avLst/>
            <a:gdLst/>
            <a:ahLst/>
            <a:cxnLst/>
            <a:rect r="r" b="b" t="t" l="l"/>
            <a:pathLst>
              <a:path h="5325465" w="12848459">
                <a:moveTo>
                  <a:pt x="0" y="0"/>
                </a:moveTo>
                <a:lnTo>
                  <a:pt x="12848459" y="0"/>
                </a:lnTo>
                <a:lnTo>
                  <a:pt x="12848459" y="5325464"/>
                </a:lnTo>
                <a:lnTo>
                  <a:pt x="0" y="53254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64962" y="145802"/>
            <a:ext cx="6760854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32"/>
              </a:lnSpc>
              <a:spcBef>
                <a:spcPct val="0"/>
              </a:spcBef>
            </a:pPr>
            <a:r>
              <a:rPr lang="en-US" b="true" sz="11277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MongoDB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7232" y="2345168"/>
            <a:ext cx="16033535" cy="6913132"/>
          </a:xfrm>
          <a:custGeom>
            <a:avLst/>
            <a:gdLst/>
            <a:ahLst/>
            <a:cxnLst/>
            <a:rect r="r" b="b" t="t" l="l"/>
            <a:pathLst>
              <a:path h="6913132" w="16033535">
                <a:moveTo>
                  <a:pt x="0" y="0"/>
                </a:moveTo>
                <a:lnTo>
                  <a:pt x="16033536" y="0"/>
                </a:lnTo>
                <a:lnTo>
                  <a:pt x="16033536" y="6913132"/>
                </a:lnTo>
                <a:lnTo>
                  <a:pt x="0" y="69131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4962" y="145802"/>
            <a:ext cx="6760854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32"/>
              </a:lnSpc>
              <a:spcBef>
                <a:spcPct val="0"/>
              </a:spcBef>
            </a:pPr>
            <a:r>
              <a:rPr lang="en-US" b="true" sz="11277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MongoDB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DAHO9sXEego</dc:identifier>
  <dcterms:modified xsi:type="dcterms:W3CDTF">2011-08-01T06:04:30Z</dcterms:modified>
  <cp:revision>1</cp:revision>
  <dc:title>Avance_Presentacion (1).pptx</dc:title>
</cp:coreProperties>
</file>